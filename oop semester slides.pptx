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07AB2-15CF-4654-804E-4112D38AFD9E}" type="datetimeFigureOut">
              <a:rPr lang="en-PK" smtClean="0"/>
              <a:t>05/07/2026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959F-7B6B-46A5-AC8C-2C48FB0A290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91565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07AB2-15CF-4654-804E-4112D38AFD9E}" type="datetimeFigureOut">
              <a:rPr lang="en-PK" smtClean="0"/>
              <a:t>05/07/2026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959F-7B6B-46A5-AC8C-2C48FB0A290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8303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07AB2-15CF-4654-804E-4112D38AFD9E}" type="datetimeFigureOut">
              <a:rPr lang="en-PK" smtClean="0"/>
              <a:t>05/07/2026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959F-7B6B-46A5-AC8C-2C48FB0A290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322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07AB2-15CF-4654-804E-4112D38AFD9E}" type="datetimeFigureOut">
              <a:rPr lang="en-PK" smtClean="0"/>
              <a:t>05/07/2026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959F-7B6B-46A5-AC8C-2C48FB0A290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881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07AB2-15CF-4654-804E-4112D38AFD9E}" type="datetimeFigureOut">
              <a:rPr lang="en-PK" smtClean="0"/>
              <a:t>05/07/2026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959F-7B6B-46A5-AC8C-2C48FB0A290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15217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07AB2-15CF-4654-804E-4112D38AFD9E}" type="datetimeFigureOut">
              <a:rPr lang="en-PK" smtClean="0"/>
              <a:t>05/07/2026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959F-7B6B-46A5-AC8C-2C48FB0A290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1578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07AB2-15CF-4654-804E-4112D38AFD9E}" type="datetimeFigureOut">
              <a:rPr lang="en-PK" smtClean="0"/>
              <a:t>05/07/2026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959F-7B6B-46A5-AC8C-2C48FB0A290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6561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07AB2-15CF-4654-804E-4112D38AFD9E}" type="datetimeFigureOut">
              <a:rPr lang="en-PK" smtClean="0"/>
              <a:t>05/07/2026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959F-7B6B-46A5-AC8C-2C48FB0A290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7025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07AB2-15CF-4654-804E-4112D38AFD9E}" type="datetimeFigureOut">
              <a:rPr lang="en-PK" smtClean="0"/>
              <a:t>05/07/2026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959F-7B6B-46A5-AC8C-2C48FB0A290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46213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07AB2-15CF-4654-804E-4112D38AFD9E}" type="datetimeFigureOut">
              <a:rPr lang="en-PK" smtClean="0"/>
              <a:t>05/07/2026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959F-7B6B-46A5-AC8C-2C48FB0A290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38447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07AB2-15CF-4654-804E-4112D38AFD9E}" type="datetimeFigureOut">
              <a:rPr lang="en-PK" smtClean="0"/>
              <a:t>05/07/2026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959F-7B6B-46A5-AC8C-2C48FB0A290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7194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4007AB2-15CF-4654-804E-4112D38AFD9E}" type="datetimeFigureOut">
              <a:rPr lang="en-PK" smtClean="0"/>
              <a:t>05/07/2026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7F4959F-7B6B-46A5-AC8C-2C48FB0A290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911573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08A38-E915-0C57-A1D2-0CAE27509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/>
              <a:t>OOP SEMESTER PROJECT </a:t>
            </a:r>
            <a:endParaRPr lang="en-PK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0DA6A-6B9F-35E7-530F-8068C68BE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sz="1300" dirty="0"/>
              <a:t>Sumo Robot Using C++ and OOP</a:t>
            </a:r>
          </a:p>
          <a:p>
            <a:pPr algn="l"/>
            <a:r>
              <a:rPr lang="en-US" sz="1300" dirty="0"/>
              <a:t>Presenter:</a:t>
            </a:r>
          </a:p>
          <a:p>
            <a:pPr algn="l"/>
            <a:r>
              <a:rPr lang="en-US" sz="1300" dirty="0"/>
              <a:t>                   Talal Arshad FA24-EEE-048</a:t>
            </a:r>
          </a:p>
          <a:p>
            <a:pPr algn="l"/>
            <a:endParaRPr lang="en-US" sz="1300" dirty="0"/>
          </a:p>
          <a:p>
            <a:pPr algn="l"/>
            <a:endParaRPr lang="en-US" sz="600" dirty="0"/>
          </a:p>
          <a:p>
            <a:pPr algn="l"/>
            <a:endParaRPr lang="en-US" sz="600" dirty="0"/>
          </a:p>
          <a:p>
            <a:pPr algn="l"/>
            <a:endParaRPr lang="en-US" sz="600" dirty="0"/>
          </a:p>
          <a:p>
            <a:pPr algn="l"/>
            <a:endParaRPr lang="en-US" sz="600" dirty="0"/>
          </a:p>
          <a:p>
            <a:pPr algn="l"/>
            <a:endParaRPr lang="en-US" sz="600" dirty="0"/>
          </a:p>
          <a:p>
            <a:pPr algn="l"/>
            <a:endParaRPr lang="en-US" sz="600" dirty="0"/>
          </a:p>
          <a:p>
            <a:pPr algn="l"/>
            <a:endParaRPr lang="en-US" sz="600" dirty="0"/>
          </a:p>
          <a:p>
            <a:pPr algn="l"/>
            <a:endParaRPr lang="en-US" sz="600" dirty="0"/>
          </a:p>
          <a:p>
            <a:pPr algn="l"/>
            <a:endParaRPr lang="en-PK" sz="600" dirty="0"/>
          </a:p>
        </p:txBody>
      </p:sp>
      <p:pic>
        <p:nvPicPr>
          <p:cNvPr id="5" name="Picture 4" descr="A small robot with wheels and wires&#10;&#10;AI-generated content may be incorrect.">
            <a:extLst>
              <a:ext uri="{FF2B5EF4-FFF2-40B4-BE49-F238E27FC236}">
                <a16:creationId xmlns:a16="http://schemas.microsoft.com/office/drawing/2014/main" id="{C13381FD-B49A-73B9-4107-5D0728ECF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2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28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FC5411-5F4A-E661-9699-A9D00545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Problem Statement &amp; Objective</a:t>
            </a:r>
            <a:endParaRPr lang="en-PK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C799D-9A38-1DE5-F032-5C1AA9948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2200"/>
              <a:t>In the original Arduino code, all logic was written in the setup and loop functions. This created messy, repeated, and hard-to-update code.</a:t>
            </a:r>
            <a:br>
              <a:rPr lang="en-GB" sz="2200"/>
            </a:br>
            <a:r>
              <a:rPr lang="en-GB" sz="2200"/>
              <a:t>Our objective was to </a:t>
            </a:r>
            <a:r>
              <a:rPr lang="en-GB" sz="2200" b="1"/>
              <a:t>convert the entire project into an Object-Oriented design</a:t>
            </a:r>
            <a:r>
              <a:rPr lang="en-GB" sz="2200"/>
              <a:t>, using principles like:</a:t>
            </a:r>
          </a:p>
          <a:p>
            <a:r>
              <a:rPr lang="en-GB" sz="2200"/>
              <a:t>Encapsulation</a:t>
            </a:r>
          </a:p>
          <a:p>
            <a:r>
              <a:rPr lang="en-GB" sz="2200"/>
              <a:t>Abstraction</a:t>
            </a:r>
          </a:p>
          <a:p>
            <a:r>
              <a:rPr lang="en-GB" sz="2200"/>
              <a:t>Composition</a:t>
            </a:r>
          </a:p>
          <a:p>
            <a:r>
              <a:rPr lang="en-GB" sz="2200"/>
              <a:t>Modularity</a:t>
            </a:r>
          </a:p>
          <a:p>
            <a:r>
              <a:rPr lang="en-GB" sz="2200"/>
              <a:t>This makes the robot easier to maintain and expand in future projects.</a:t>
            </a:r>
          </a:p>
          <a:p>
            <a:pPr marL="0" indent="0">
              <a:buNone/>
            </a:pPr>
            <a:endParaRPr lang="en-PK" sz="2200"/>
          </a:p>
        </p:txBody>
      </p:sp>
    </p:spTree>
    <p:extLst>
      <p:ext uri="{BB962C8B-B14F-4D97-AF65-F5344CB8AC3E}">
        <p14:creationId xmlns:p14="http://schemas.microsoft.com/office/powerpoint/2010/main" val="3002808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peedometer">
            <a:extLst>
              <a:ext uri="{FF2B5EF4-FFF2-40B4-BE49-F238E27FC236}">
                <a16:creationId xmlns:a16="http://schemas.microsoft.com/office/drawing/2014/main" id="{4011A118-7A3D-54EC-3A2D-EC4A09DBD5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14" r="6114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C8E058-1D84-C169-D979-57CEF6AD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 dirty="0"/>
              <a:t>Motor Class</a:t>
            </a:r>
            <a:endParaRPr lang="en-PK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A9502-C945-FA43-3199-ED67804B1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1500" b="1" dirty="0"/>
              <a:t>We created a Motor class to represent a single DC motor.</a:t>
            </a:r>
          </a:p>
          <a:p>
            <a:pPr marL="0" indent="0">
              <a:buNone/>
            </a:pPr>
            <a:r>
              <a:rPr lang="en-GB" sz="1500" b="1" dirty="0"/>
              <a:t>Purpose of this class:</a:t>
            </a:r>
          </a:p>
          <a:p>
            <a:r>
              <a:rPr lang="en-GB" sz="1500" dirty="0"/>
              <a:t>Store the pin numbers</a:t>
            </a:r>
          </a:p>
          <a:p>
            <a:r>
              <a:rPr lang="en-GB" sz="1500" dirty="0"/>
              <a:t>Provide simple functions to move a motor forward, backward, or stop</a:t>
            </a:r>
          </a:p>
          <a:p>
            <a:pPr marL="0" indent="0">
              <a:buNone/>
            </a:pPr>
            <a:r>
              <a:rPr lang="en-GB" sz="1500" b="1" dirty="0"/>
              <a:t>Why this class is important:</a:t>
            </a:r>
          </a:p>
          <a:p>
            <a:r>
              <a:rPr lang="en-GB" sz="1500" dirty="0"/>
              <a:t>Instead of writing digital Write again and again,</a:t>
            </a:r>
            <a:br>
              <a:rPr lang="en-GB" sz="1500" dirty="0"/>
            </a:br>
            <a:r>
              <a:rPr lang="en-GB" sz="1500" dirty="0"/>
              <a:t>we now only call functions like forward(), backward(), stop().</a:t>
            </a:r>
          </a:p>
          <a:p>
            <a:pPr marL="0" indent="0">
              <a:buNone/>
            </a:pPr>
            <a:r>
              <a:rPr lang="en-GB" sz="1500" b="1" dirty="0"/>
              <a:t>Encapsulation used:</a:t>
            </a:r>
          </a:p>
          <a:p>
            <a:r>
              <a:rPr lang="en-GB" sz="1500" dirty="0"/>
              <a:t>Pin numbers are private</a:t>
            </a:r>
          </a:p>
          <a:p>
            <a:r>
              <a:rPr lang="en-GB" sz="1500" dirty="0"/>
              <a:t>Movement methods are public</a:t>
            </a:r>
            <a:br>
              <a:rPr lang="en-GB" sz="1500" dirty="0"/>
            </a:br>
            <a:r>
              <a:rPr lang="en-GB" sz="1500" dirty="0"/>
              <a:t>This protects the internal implementation.</a:t>
            </a:r>
          </a:p>
          <a:p>
            <a:r>
              <a:rPr lang="en-GB" sz="1500" dirty="0"/>
              <a:t>This class reduces code repetition and increases clarity</a:t>
            </a:r>
          </a:p>
          <a:p>
            <a:endParaRPr lang="en-PK" sz="1100" dirty="0"/>
          </a:p>
        </p:txBody>
      </p:sp>
    </p:spTree>
    <p:extLst>
      <p:ext uri="{BB962C8B-B14F-4D97-AF65-F5344CB8AC3E}">
        <p14:creationId xmlns:p14="http://schemas.microsoft.com/office/powerpoint/2010/main" val="3978920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F0E7-181D-9818-AEF1-CC7C983E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MotorDriver</a:t>
            </a:r>
            <a:r>
              <a:rPr lang="en-US" dirty="0"/>
              <a:t> Class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61D9A-B6CB-7EBE-66BD-2903377FB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13625"/>
            <a:ext cx="4614759" cy="4163337"/>
          </a:xfrm>
        </p:spPr>
        <p:txBody>
          <a:bodyPr>
            <a:normAutofit fontScale="92500" lnSpcReduction="20000"/>
          </a:bodyPr>
          <a:lstStyle/>
          <a:p>
            <a:r>
              <a:rPr lang="en-GB" sz="1300" dirty="0"/>
              <a:t>This class </a:t>
            </a:r>
            <a:r>
              <a:rPr lang="en-GB" sz="1300" b="1" dirty="0"/>
              <a:t>contains two Motor objects</a:t>
            </a:r>
            <a:r>
              <a:rPr lang="en-GB" sz="1300" dirty="0"/>
              <a:t>, one for the left motor and one for the right. This is the concept of </a:t>
            </a:r>
            <a:r>
              <a:rPr lang="en-GB" sz="1300" b="1" dirty="0"/>
              <a:t>composition</a:t>
            </a:r>
            <a:r>
              <a:rPr lang="en-GB" sz="1300" dirty="0"/>
              <a:t>, meaning a </a:t>
            </a:r>
            <a:r>
              <a:rPr lang="en-GB" sz="1300" dirty="0" err="1"/>
              <a:t>MotorDriver</a:t>
            </a:r>
            <a:r>
              <a:rPr lang="en-GB" sz="1300" dirty="0"/>
              <a:t> is made up of motors.</a:t>
            </a:r>
          </a:p>
          <a:p>
            <a:r>
              <a:rPr lang="en-GB" sz="1300" b="1" dirty="0"/>
              <a:t>Purpose of </a:t>
            </a:r>
            <a:r>
              <a:rPr lang="en-GB" sz="1300" b="1" dirty="0" err="1"/>
              <a:t>MotorDriver</a:t>
            </a:r>
            <a:r>
              <a:rPr lang="en-GB" sz="1300" b="1" dirty="0"/>
              <a:t> class:</a:t>
            </a:r>
            <a:endParaRPr lang="en-GB" sz="1300" dirty="0"/>
          </a:p>
          <a:p>
            <a:r>
              <a:rPr lang="en-GB" sz="1300" dirty="0"/>
              <a:t>Control both motors together</a:t>
            </a:r>
          </a:p>
          <a:p>
            <a:r>
              <a:rPr lang="en-GB" sz="1300" dirty="0"/>
              <a:t>Provide high-level functions:</a:t>
            </a:r>
          </a:p>
          <a:p>
            <a:pPr lvl="1"/>
            <a:r>
              <a:rPr lang="en-GB" sz="1300" dirty="0" err="1"/>
              <a:t>moveForward</a:t>
            </a:r>
            <a:r>
              <a:rPr lang="en-GB" sz="1300" dirty="0"/>
              <a:t>()</a:t>
            </a:r>
          </a:p>
          <a:p>
            <a:pPr lvl="1"/>
            <a:r>
              <a:rPr lang="en-GB" sz="1300" dirty="0" err="1"/>
              <a:t>moveBackward</a:t>
            </a:r>
            <a:r>
              <a:rPr lang="en-GB" sz="1300" dirty="0"/>
              <a:t>()</a:t>
            </a:r>
          </a:p>
          <a:p>
            <a:pPr lvl="1"/>
            <a:r>
              <a:rPr lang="en-GB" sz="1300" dirty="0" err="1"/>
              <a:t>turnLeft</a:t>
            </a:r>
            <a:r>
              <a:rPr lang="en-GB" sz="1300" dirty="0"/>
              <a:t>()</a:t>
            </a:r>
          </a:p>
          <a:p>
            <a:pPr lvl="1"/>
            <a:r>
              <a:rPr lang="en-GB" sz="1300" dirty="0" err="1"/>
              <a:t>turnRight</a:t>
            </a:r>
            <a:r>
              <a:rPr lang="en-GB" sz="1300" dirty="0"/>
              <a:t>()</a:t>
            </a:r>
          </a:p>
          <a:p>
            <a:pPr lvl="1"/>
            <a:r>
              <a:rPr lang="en-GB" sz="1300" dirty="0"/>
              <a:t>stop()</a:t>
            </a:r>
          </a:p>
          <a:p>
            <a:r>
              <a:rPr lang="en-GB" sz="1300" b="1" dirty="0"/>
              <a:t>Why this helps:</a:t>
            </a:r>
            <a:endParaRPr lang="en-GB" sz="1300" dirty="0"/>
          </a:p>
          <a:p>
            <a:r>
              <a:rPr lang="en-GB" sz="1300" dirty="0"/>
              <a:t>Instead of manually controlling two motors separately,</a:t>
            </a:r>
            <a:br>
              <a:rPr lang="en-GB" sz="1300" dirty="0"/>
            </a:br>
            <a:r>
              <a:rPr lang="en-GB" sz="1300" dirty="0"/>
              <a:t>we now call one function like </a:t>
            </a:r>
            <a:r>
              <a:rPr lang="en-GB" sz="1300" dirty="0" err="1"/>
              <a:t>moveForward</a:t>
            </a:r>
            <a:r>
              <a:rPr lang="en-GB" sz="1300" dirty="0"/>
              <a:t>(),</a:t>
            </a:r>
            <a:br>
              <a:rPr lang="en-GB" sz="1300" dirty="0"/>
            </a:br>
            <a:r>
              <a:rPr lang="en-GB" sz="1300" dirty="0"/>
              <a:t>and it automatically controls both motors.</a:t>
            </a:r>
          </a:p>
          <a:p>
            <a:r>
              <a:rPr lang="en-GB" sz="1300" b="1" dirty="0"/>
              <a:t>Abstraction used:</a:t>
            </a:r>
            <a:endParaRPr lang="en-GB" sz="1300" dirty="0"/>
          </a:p>
          <a:p>
            <a:r>
              <a:rPr lang="en-GB" sz="1300" dirty="0"/>
              <a:t>The user doesn’t need to know which motor spins how.</a:t>
            </a:r>
          </a:p>
          <a:p>
            <a:r>
              <a:rPr lang="en-GB" sz="1300" dirty="0"/>
              <a:t>They just call a single function, and the driver handles the details.</a:t>
            </a:r>
          </a:p>
          <a:p>
            <a:r>
              <a:rPr lang="en-GB" sz="1300" dirty="0"/>
              <a:t>This makes the movement logic clean, organized, and reusable</a:t>
            </a:r>
          </a:p>
          <a:p>
            <a:endParaRPr lang="en-PK" sz="1000" dirty="0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F2D7FBD-5BB7-DE93-CEF5-EB1163B33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264" y="1587640"/>
            <a:ext cx="4110688" cy="1590625"/>
          </a:xfrm>
          <a:prstGeom prst="rect">
            <a:avLst/>
          </a:prstGeo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CE06983-68FF-652F-4B11-4E598E234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264" y="3429000"/>
            <a:ext cx="4110687" cy="123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383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oy robots shaking hands">
            <a:extLst>
              <a:ext uri="{FF2B5EF4-FFF2-40B4-BE49-F238E27FC236}">
                <a16:creationId xmlns:a16="http://schemas.microsoft.com/office/drawing/2014/main" id="{0FE82C1B-C07D-F011-59C7-2792AFDC0C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1585" b="3829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85950E-EF80-B912-A14E-0860E81F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Robot Class</a:t>
            </a:r>
            <a:br>
              <a:rPr lang="en-US" dirty="0">
                <a:solidFill>
                  <a:srgbClr val="FFFFFF"/>
                </a:solidFill>
              </a:rPr>
            </a:br>
            <a:endParaRPr lang="en-PK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87A34-E1DC-52A1-17ED-82DEC10A1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300" dirty="0">
                <a:solidFill>
                  <a:srgbClr val="FFFFFF"/>
                </a:solidFill>
              </a:rPr>
              <a:t>This class represents the entire robot as a single object.</a:t>
            </a:r>
          </a:p>
          <a:p>
            <a:pPr marL="0" indent="0">
              <a:buNone/>
            </a:pPr>
            <a:r>
              <a:rPr lang="en-GB" sz="1400" b="1" dirty="0">
                <a:solidFill>
                  <a:srgbClr val="FFFFFF"/>
                </a:solidFill>
              </a:rPr>
              <a:t>Inside this class:</a:t>
            </a:r>
          </a:p>
          <a:p>
            <a:r>
              <a:rPr lang="en-GB" sz="1300" dirty="0">
                <a:solidFill>
                  <a:srgbClr val="FFFFFF"/>
                </a:solidFill>
              </a:rPr>
              <a:t>We have the </a:t>
            </a:r>
            <a:r>
              <a:rPr lang="en-GB" sz="1300" dirty="0" err="1">
                <a:solidFill>
                  <a:srgbClr val="FFFFFF"/>
                </a:solidFill>
              </a:rPr>
              <a:t>MotorDriver</a:t>
            </a:r>
            <a:r>
              <a:rPr lang="en-GB" sz="1300" dirty="0">
                <a:solidFill>
                  <a:srgbClr val="FFFFFF"/>
                </a:solidFill>
              </a:rPr>
              <a:t> object</a:t>
            </a:r>
          </a:p>
          <a:p>
            <a:r>
              <a:rPr lang="en-GB" sz="1300" dirty="0">
                <a:solidFill>
                  <a:srgbClr val="FFFFFF"/>
                </a:solidFill>
              </a:rPr>
              <a:t>We have one function for each robot </a:t>
            </a:r>
            <a:r>
              <a:rPr lang="en-GB" sz="1300" dirty="0" err="1">
                <a:solidFill>
                  <a:srgbClr val="FFFFFF"/>
                </a:solidFill>
              </a:rPr>
              <a:t>behavior</a:t>
            </a:r>
            <a:endParaRPr lang="en-GB" sz="1300" dirty="0">
              <a:solidFill>
                <a:srgbClr val="FFFFFF"/>
              </a:solidFill>
            </a:endParaRPr>
          </a:p>
          <a:p>
            <a:r>
              <a:rPr lang="en-GB" sz="1300" dirty="0">
                <a:solidFill>
                  <a:srgbClr val="FFFFFF"/>
                </a:solidFill>
              </a:rPr>
              <a:t>The robot understands commands like 'F', 'B', 'L', 'R'</a:t>
            </a:r>
          </a:p>
          <a:p>
            <a:pPr marL="0" indent="0">
              <a:buNone/>
            </a:pPr>
            <a:r>
              <a:rPr lang="en-GB" sz="1400" b="1" dirty="0">
                <a:solidFill>
                  <a:srgbClr val="FFFFFF"/>
                </a:solidFill>
              </a:rPr>
              <a:t>Purpose of Robot class:</a:t>
            </a:r>
            <a:endParaRPr lang="en-GB" sz="1400" dirty="0">
              <a:solidFill>
                <a:srgbClr val="FFFFFF"/>
              </a:solidFill>
            </a:endParaRPr>
          </a:p>
          <a:p>
            <a:r>
              <a:rPr lang="en-GB" sz="1300" dirty="0">
                <a:solidFill>
                  <a:srgbClr val="FFFFFF"/>
                </a:solidFill>
              </a:rPr>
              <a:t>Connect high-level commands with actual motor movement</a:t>
            </a:r>
          </a:p>
          <a:p>
            <a:r>
              <a:rPr lang="en-GB" sz="1300" dirty="0">
                <a:solidFill>
                  <a:srgbClr val="FFFFFF"/>
                </a:solidFill>
              </a:rPr>
              <a:t>Provide functions such as:</a:t>
            </a:r>
          </a:p>
          <a:p>
            <a:pPr lvl="1"/>
            <a:r>
              <a:rPr lang="en-GB" sz="1300" dirty="0" err="1">
                <a:solidFill>
                  <a:srgbClr val="FFFFFF"/>
                </a:solidFill>
              </a:rPr>
              <a:t>goForward</a:t>
            </a:r>
            <a:r>
              <a:rPr lang="en-GB" sz="1300" dirty="0">
                <a:solidFill>
                  <a:srgbClr val="FFFFFF"/>
                </a:solidFill>
              </a:rPr>
              <a:t>()</a:t>
            </a:r>
          </a:p>
          <a:p>
            <a:pPr lvl="1"/>
            <a:r>
              <a:rPr lang="en-GB" sz="1300" dirty="0" err="1">
                <a:solidFill>
                  <a:srgbClr val="FFFFFF"/>
                </a:solidFill>
              </a:rPr>
              <a:t>goBackward</a:t>
            </a:r>
            <a:r>
              <a:rPr lang="en-GB" sz="1300" dirty="0">
                <a:solidFill>
                  <a:srgbClr val="FFFFFF"/>
                </a:solidFill>
              </a:rPr>
              <a:t>()</a:t>
            </a:r>
          </a:p>
          <a:p>
            <a:pPr lvl="1"/>
            <a:r>
              <a:rPr lang="en-GB" sz="1300" dirty="0" err="1">
                <a:solidFill>
                  <a:srgbClr val="FFFFFF"/>
                </a:solidFill>
              </a:rPr>
              <a:t>turnLeft</a:t>
            </a:r>
            <a:r>
              <a:rPr lang="en-GB" sz="1300" dirty="0">
                <a:solidFill>
                  <a:srgbClr val="FFFFFF"/>
                </a:solidFill>
              </a:rPr>
              <a:t>()</a:t>
            </a:r>
          </a:p>
          <a:p>
            <a:pPr lvl="1"/>
            <a:r>
              <a:rPr lang="en-GB" sz="1300" dirty="0" err="1">
                <a:solidFill>
                  <a:srgbClr val="FFFFFF"/>
                </a:solidFill>
              </a:rPr>
              <a:t>turnRight</a:t>
            </a:r>
            <a:r>
              <a:rPr lang="en-GB" sz="1300" dirty="0">
                <a:solidFill>
                  <a:srgbClr val="FFFFFF"/>
                </a:solidFill>
              </a:rPr>
              <a:t>()</a:t>
            </a:r>
          </a:p>
          <a:p>
            <a:pPr lvl="1"/>
            <a:r>
              <a:rPr lang="en-GB" sz="1300" dirty="0">
                <a:solidFill>
                  <a:srgbClr val="FFFFFF"/>
                </a:solidFill>
              </a:rPr>
              <a:t>stop()</a:t>
            </a:r>
          </a:p>
          <a:p>
            <a:pPr marL="0" indent="0">
              <a:buNone/>
            </a:pPr>
            <a:r>
              <a:rPr lang="en-GB" sz="1400" b="1" dirty="0">
                <a:solidFill>
                  <a:srgbClr val="FFFFFF"/>
                </a:solidFill>
              </a:rPr>
              <a:t>Benefits:</a:t>
            </a:r>
            <a:endParaRPr lang="en-GB" sz="1400" dirty="0">
              <a:solidFill>
                <a:srgbClr val="FFFFFF"/>
              </a:solidFill>
            </a:endParaRPr>
          </a:p>
          <a:p>
            <a:r>
              <a:rPr lang="en-GB" sz="1300" dirty="0">
                <a:solidFill>
                  <a:srgbClr val="FFFFFF"/>
                </a:solidFill>
              </a:rPr>
              <a:t>Makes our code modular</a:t>
            </a:r>
          </a:p>
          <a:p>
            <a:r>
              <a:rPr lang="en-GB" sz="1300" dirty="0">
                <a:solidFill>
                  <a:srgbClr val="FFFFFF"/>
                </a:solidFill>
              </a:rPr>
              <a:t>Separates hardware-level logic from robot </a:t>
            </a:r>
            <a:r>
              <a:rPr lang="en-GB" sz="1300" dirty="0" err="1">
                <a:solidFill>
                  <a:srgbClr val="FFFFFF"/>
                </a:solidFill>
              </a:rPr>
              <a:t>behavior</a:t>
            </a:r>
            <a:endParaRPr lang="en-GB" sz="1300" dirty="0">
              <a:solidFill>
                <a:srgbClr val="FFFFFF"/>
              </a:solidFill>
            </a:endParaRPr>
          </a:p>
          <a:p>
            <a:r>
              <a:rPr lang="en-GB" sz="1300" dirty="0">
                <a:solidFill>
                  <a:srgbClr val="FFFFFF"/>
                </a:solidFill>
              </a:rPr>
              <a:t>If in the future we add sensors, we can add them here easily</a:t>
            </a:r>
          </a:p>
          <a:p>
            <a:r>
              <a:rPr lang="en-GB" sz="1300" dirty="0">
                <a:solidFill>
                  <a:srgbClr val="FFFFFF"/>
                </a:solidFill>
              </a:rPr>
              <a:t>The Robot class is the brain that links Bluetooth commands and motor actions.</a:t>
            </a:r>
          </a:p>
          <a:p>
            <a:pPr marL="0" indent="0">
              <a:buNone/>
            </a:pPr>
            <a:endParaRPr lang="en-US" sz="1400" dirty="0">
              <a:solidFill>
                <a:srgbClr val="FFFFFF"/>
              </a:solidFill>
            </a:endParaRPr>
          </a:p>
          <a:p>
            <a:endParaRPr lang="en-GB" sz="1300" dirty="0">
              <a:solidFill>
                <a:srgbClr val="FFFFFF"/>
              </a:solidFill>
            </a:endParaRPr>
          </a:p>
          <a:p>
            <a:endParaRPr lang="en-PK" sz="1300" dirty="0">
              <a:solidFill>
                <a:srgbClr val="FFFFFF"/>
              </a:solidFill>
            </a:endParaRPr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08502D8-2CDA-AD8A-BA64-9317A292B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428" y="3721447"/>
            <a:ext cx="847843" cy="1629002"/>
          </a:xfrm>
          <a:prstGeom prst="rect">
            <a:avLst/>
          </a:prstGeom>
        </p:spPr>
      </p:pic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C159854-8F69-6DC7-D461-4B1ACC0A7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969" y="3959605"/>
            <a:ext cx="2943636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183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24AA4A28-1BFA-C3EE-11F3-959A175CB6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3596" b="23114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098C39-AAD8-BE43-A76C-DF2A04D43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300748"/>
            <a:ext cx="4068097" cy="610583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Bluetooth Controller Class</a:t>
            </a:r>
            <a:endParaRPr lang="en-PK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82C2E-E698-1543-6903-E7C46DC11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r>
              <a:rPr lang="en-GB" sz="2000" b="1" dirty="0">
                <a:solidFill>
                  <a:srgbClr val="FFFFFF"/>
                </a:solidFill>
              </a:rPr>
              <a:t>Purpose:</a:t>
            </a:r>
            <a:endParaRPr lang="en-GB" sz="2000" dirty="0">
              <a:solidFill>
                <a:srgbClr val="FFFFFF"/>
              </a:solidFill>
            </a:endParaRPr>
          </a:p>
          <a:p>
            <a:r>
              <a:rPr lang="en-GB" sz="2000" dirty="0">
                <a:solidFill>
                  <a:srgbClr val="FFFFFF"/>
                </a:solidFill>
              </a:rPr>
              <a:t>Handle communication between the smartphone and the robot</a:t>
            </a:r>
          </a:p>
          <a:p>
            <a:r>
              <a:rPr lang="en-GB" sz="2000" dirty="0">
                <a:solidFill>
                  <a:srgbClr val="FFFFFF"/>
                </a:solidFill>
              </a:rPr>
              <a:t>Read characters like ‘F’, ‘B’, ‘L’, ‘R’</a:t>
            </a:r>
          </a:p>
          <a:p>
            <a:r>
              <a:rPr lang="en-GB" sz="2000" dirty="0">
                <a:solidFill>
                  <a:srgbClr val="FFFFFF"/>
                </a:solidFill>
              </a:rPr>
              <a:t>Send this command to the Robot class</a:t>
            </a:r>
          </a:p>
          <a:p>
            <a:r>
              <a:rPr lang="en-GB" sz="2000" b="1" dirty="0">
                <a:solidFill>
                  <a:srgbClr val="FFFFFF"/>
                </a:solidFill>
              </a:rPr>
              <a:t>How it works:</a:t>
            </a:r>
            <a:endParaRPr lang="en-GB" sz="2000" dirty="0">
              <a:solidFill>
                <a:srgbClr val="FFFFFF"/>
              </a:solidFill>
            </a:endParaRPr>
          </a:p>
          <a:p>
            <a:r>
              <a:rPr lang="en-GB" sz="2000" dirty="0">
                <a:solidFill>
                  <a:srgbClr val="FFFFFF"/>
                </a:solidFill>
              </a:rPr>
              <a:t>We pass a reference to the robot</a:t>
            </a:r>
          </a:p>
          <a:p>
            <a:r>
              <a:rPr lang="en-GB" sz="2000" dirty="0">
                <a:solidFill>
                  <a:srgbClr val="FFFFFF"/>
                </a:solidFill>
              </a:rPr>
              <a:t>When data arrives via Bluetooth, this class checks what the command is</a:t>
            </a:r>
          </a:p>
          <a:p>
            <a:r>
              <a:rPr lang="en-GB" sz="2000" dirty="0">
                <a:solidFill>
                  <a:srgbClr val="FFFFFF"/>
                </a:solidFill>
              </a:rPr>
              <a:t>Then it tells the robot what to do</a:t>
            </a:r>
          </a:p>
          <a:p>
            <a:r>
              <a:rPr lang="en-GB" sz="2000" dirty="0">
                <a:solidFill>
                  <a:srgbClr val="FFFFFF"/>
                </a:solidFill>
              </a:rPr>
              <a:t>This separates communication logic from movement logic, which improves clarity.</a:t>
            </a:r>
          </a:p>
          <a:p>
            <a:pPr marL="0" indent="0">
              <a:buNone/>
            </a:pPr>
            <a:endParaRPr lang="en-PK" sz="2000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BE77B13-9E44-1D64-DEBD-EBF50F4A8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62" y="2028629"/>
            <a:ext cx="695422" cy="140037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82686D-A0B2-6800-C70A-0DFAF10AD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184" y="2266663"/>
            <a:ext cx="2610214" cy="1076475"/>
          </a:xfrm>
          <a:prstGeom prst="rect">
            <a:avLst/>
          </a:prstGeom>
        </p:spPr>
      </p:pic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B1062CD-DC93-AEA1-A622-FA9DFFF21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362" y="4312828"/>
            <a:ext cx="1181265" cy="6763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194F28-D3F6-AAD4-F519-237A6A154D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6132" y="4327117"/>
            <a:ext cx="1200318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073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obot illustration of a family">
            <a:extLst>
              <a:ext uri="{FF2B5EF4-FFF2-40B4-BE49-F238E27FC236}">
                <a16:creationId xmlns:a16="http://schemas.microsoft.com/office/drawing/2014/main" id="{1B17D7D4-31B1-A4FB-072C-824048D574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A3CB2A-0CF3-64D1-B5D7-D6CD27F7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Conclusion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6CE37-5834-2F95-9679-A3342061A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r>
              <a:rPr lang="en-GB" sz="1700">
                <a:solidFill>
                  <a:srgbClr val="FFFFFF"/>
                </a:solidFill>
              </a:rPr>
              <a:t>Our OOP version of the Bluetooth robot successfully demonstrates:</a:t>
            </a:r>
          </a:p>
          <a:p>
            <a:r>
              <a:rPr lang="en-GB" sz="1700" b="1">
                <a:solidFill>
                  <a:srgbClr val="FFFFFF"/>
                </a:solidFill>
              </a:rPr>
              <a:t>Encapsulation:</a:t>
            </a:r>
            <a:r>
              <a:rPr lang="en-GB" sz="1700">
                <a:solidFill>
                  <a:srgbClr val="FFFFFF"/>
                </a:solidFill>
              </a:rPr>
              <a:t> Each class hides its internal details</a:t>
            </a:r>
          </a:p>
          <a:p>
            <a:r>
              <a:rPr lang="en-GB" sz="1700" b="1">
                <a:solidFill>
                  <a:srgbClr val="FFFFFF"/>
                </a:solidFill>
              </a:rPr>
              <a:t>Abstraction:</a:t>
            </a:r>
            <a:r>
              <a:rPr lang="en-GB" sz="1700">
                <a:solidFill>
                  <a:srgbClr val="FFFFFF"/>
                </a:solidFill>
              </a:rPr>
              <a:t> High-level functions simplify robot control</a:t>
            </a:r>
          </a:p>
          <a:p>
            <a:r>
              <a:rPr lang="en-GB" sz="1700" b="1">
                <a:solidFill>
                  <a:srgbClr val="FFFFFF"/>
                </a:solidFill>
              </a:rPr>
              <a:t>Inheritance (conceptual—not used):</a:t>
            </a:r>
            <a:r>
              <a:rPr lang="en-GB" sz="1700">
                <a:solidFill>
                  <a:srgbClr val="FFFFFF"/>
                </a:solidFill>
              </a:rPr>
              <a:t> Could be added for upgraded robot versions</a:t>
            </a:r>
          </a:p>
          <a:p>
            <a:r>
              <a:rPr lang="en-GB" sz="1700" b="1">
                <a:solidFill>
                  <a:srgbClr val="FFFFFF"/>
                </a:solidFill>
              </a:rPr>
              <a:t>Composition:</a:t>
            </a:r>
            <a:r>
              <a:rPr lang="en-GB" sz="1700">
                <a:solidFill>
                  <a:srgbClr val="FFFFFF"/>
                </a:solidFill>
              </a:rPr>
              <a:t> MotorDriver is composed of Motor objects</a:t>
            </a:r>
          </a:p>
          <a:p>
            <a:r>
              <a:rPr lang="en-GB" sz="1700" b="1">
                <a:solidFill>
                  <a:srgbClr val="FFFFFF"/>
                </a:solidFill>
              </a:rPr>
              <a:t>Modularity:</a:t>
            </a:r>
            <a:r>
              <a:rPr lang="en-GB" sz="1700">
                <a:solidFill>
                  <a:srgbClr val="FFFFFF"/>
                </a:solidFill>
              </a:rPr>
              <a:t> Each part of the robot has its own class</a:t>
            </a:r>
          </a:p>
          <a:p>
            <a:r>
              <a:rPr lang="en-GB" sz="1700" b="1">
                <a:solidFill>
                  <a:srgbClr val="FFFFFF"/>
                </a:solidFill>
              </a:rPr>
              <a:t>Why our OOP design is better than the original code:</a:t>
            </a:r>
            <a:endParaRPr lang="en-GB" sz="1700">
              <a:solidFill>
                <a:srgbClr val="FFFFFF"/>
              </a:solidFill>
            </a:endParaRPr>
          </a:p>
          <a:p>
            <a:r>
              <a:rPr lang="en-GB" sz="1700">
                <a:solidFill>
                  <a:srgbClr val="FFFFFF"/>
                </a:solidFill>
              </a:rPr>
              <a:t>Cleaner</a:t>
            </a:r>
          </a:p>
          <a:p>
            <a:r>
              <a:rPr lang="en-GB" sz="1700">
                <a:solidFill>
                  <a:srgbClr val="FFFFFF"/>
                </a:solidFill>
              </a:rPr>
              <a:t>Easier to debug</a:t>
            </a:r>
          </a:p>
          <a:p>
            <a:r>
              <a:rPr lang="en-GB" sz="1700">
                <a:solidFill>
                  <a:srgbClr val="FFFFFF"/>
                </a:solidFill>
              </a:rPr>
              <a:t>Easy to expand</a:t>
            </a:r>
          </a:p>
          <a:p>
            <a:r>
              <a:rPr lang="en-GB" sz="1700">
                <a:solidFill>
                  <a:srgbClr val="FFFFFF"/>
                </a:solidFill>
              </a:rPr>
              <a:t>Reusable functions</a:t>
            </a:r>
          </a:p>
          <a:p>
            <a:r>
              <a:rPr lang="en-GB" sz="1700">
                <a:solidFill>
                  <a:srgbClr val="FFFFFF"/>
                </a:solidFill>
              </a:rPr>
              <a:t>Separated responsibilities</a:t>
            </a:r>
          </a:p>
          <a:p>
            <a:r>
              <a:rPr lang="en-GB" sz="1700">
                <a:solidFill>
                  <a:srgbClr val="FFFFFF"/>
                </a:solidFill>
              </a:rPr>
              <a:t>Thank you for listening. We are open to questions</a:t>
            </a:r>
          </a:p>
          <a:p>
            <a:pPr marL="0" indent="0">
              <a:buNone/>
            </a:pPr>
            <a:endParaRPr lang="en-PK" sz="1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618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580</Words>
  <Application>Microsoft Office PowerPoint</Application>
  <PresentationFormat>Widescreen</PresentationFormat>
  <Paragraphs>90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OOP SEMESTER PROJECT </vt:lpstr>
      <vt:lpstr>Problem Statement &amp; Objective</vt:lpstr>
      <vt:lpstr>Motor Class</vt:lpstr>
      <vt:lpstr>MotorDriver Class</vt:lpstr>
      <vt:lpstr>Robot Class </vt:lpstr>
      <vt:lpstr>Bluetooth Controller Class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futxedits.999@gmail.com</dc:creator>
  <cp:lastModifiedBy>Talal Arshad Abbasi</cp:lastModifiedBy>
  <cp:revision>2</cp:revision>
  <dcterms:created xsi:type="dcterms:W3CDTF">2025-12-10T08:37:07Z</dcterms:created>
  <dcterms:modified xsi:type="dcterms:W3CDTF">2026-07-05T14:54:19Z</dcterms:modified>
</cp:coreProperties>
</file>